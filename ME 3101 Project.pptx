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3" r:id="rId4"/>
  </p:sldMasterIdLst>
  <p:notesMasterIdLst>
    <p:notesMasterId r:id="rId13"/>
  </p:notesMasterIdLst>
  <p:handoutMasterIdLst>
    <p:handoutMasterId r:id="rId14"/>
  </p:handoutMasterIdLst>
  <p:sldIdLst>
    <p:sldId id="312" r:id="rId5"/>
    <p:sldId id="307" r:id="rId6"/>
    <p:sldId id="281" r:id="rId7"/>
    <p:sldId id="282" r:id="rId8"/>
    <p:sldId id="314" r:id="rId9"/>
    <p:sldId id="315" r:id="rId10"/>
    <p:sldId id="317" r:id="rId11"/>
    <p:sldId id="316" r:id="rId12"/>
  </p:sldIdLst>
  <p:sldSz cx="12192000" cy="6858000"/>
  <p:notesSz cx="13716000" cy="2438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5388" autoAdjust="0"/>
  </p:normalViewPr>
  <p:slideViewPr>
    <p:cSldViewPr snapToGrid="0" snapToObjects="1">
      <p:cViewPr>
        <p:scale>
          <a:sx n="53" d="100"/>
          <a:sy n="53" d="100"/>
        </p:scale>
        <p:origin x="1216" y="416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t>9/1/2026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57692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6A364-A39C-470E-B89A-9BD899585684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52394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t>9/1/2026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09063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60457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2A7A0-B9EE-41A8-8016-28E5803F20B2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338950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3D6F41-6645-4089-A6BB-7B692A44A4CC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38667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E16723-2C2F-40DB-89B2-A94AAE77E75C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379451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8B73AF-3955-4569-8B4F-B329360A9CBD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013146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0ADC593-EA98-4C39-A75F-3F3A9C691019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77158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37654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13664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07437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628972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802289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92066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C8C146-0A20-4029-98D5-9A42EEDF8B24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033507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3859A7-84EB-4384-87AF-59CC16704CF8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841858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2538270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544536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40A1F3-DA5D-4F2E-B759-748FF8D0ACA9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3778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63035D-22A0-4334-A9AE-2457016C8B47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55230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E765B10-D26A-480A-9509-A9831C5E60D8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90002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CB42A-67CE-499B-A4FA-7D4E4469B142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460259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9E5040-F7E0-40EC-B8E9-CED28200FAA3}" type="datetime1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786866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CFF128-BAC7-4E0D-8F77-28A571D93B6F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721411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7987AA-E4E6-4FC1-BAD8-09A952212C58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894597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2A7A0-B9EE-41A8-8016-28E5803F20B2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42718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115185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626579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159016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38937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407180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0121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710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  <p:sldLayoutId id="2147483715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21" r:id="rId28"/>
    <p:sldLayoutId id="2147483723" r:id="rId29"/>
    <p:sldLayoutId id="2147483724" r:id="rId30"/>
    <p:sldLayoutId id="2147483725" r:id="rId31"/>
    <p:sldLayoutId id="2147483726" r:id="rId32"/>
    <p:sldLayoutId id="2147483727" r:id="rId3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89" y="-565992"/>
            <a:ext cx="6392421" cy="3831221"/>
          </a:xfrm>
        </p:spPr>
        <p:txBody>
          <a:bodyPr anchor="ctr"/>
          <a:lstStyle/>
          <a:p>
            <a:r>
              <a:rPr lang="en-IN" sz="4000" dirty="0"/>
              <a:t>ME 3101 Project </a:t>
            </a:r>
            <a:endParaRPr lang="en-US" sz="4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8E7902-8E31-2D86-ECEF-3D8A82EACE01}"/>
              </a:ext>
            </a:extLst>
          </p:cNvPr>
          <p:cNvSpPr/>
          <p:nvPr/>
        </p:nvSpPr>
        <p:spPr>
          <a:xfrm>
            <a:off x="-767493" y="2275171"/>
            <a:ext cx="14289529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4800" dirty="0"/>
              <a:t>Image Processing of Droplet Dynamics on a Superhydrophobic Surface</a:t>
            </a:r>
            <a:endParaRPr lang="en-US" sz="48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3FD827-010E-A075-D748-4B122E8F7E34}"/>
              </a:ext>
            </a:extLst>
          </p:cNvPr>
          <p:cNvSpPr txBox="1"/>
          <p:nvPr/>
        </p:nvSpPr>
        <p:spPr>
          <a:xfrm>
            <a:off x="5006110" y="4424433"/>
            <a:ext cx="4414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Name:</a:t>
            </a:r>
            <a:r>
              <a:rPr lang="en-IN" dirty="0"/>
              <a:t> NISHTHA SHRIVAS</a:t>
            </a:r>
            <a:br>
              <a:rPr lang="en-IN" dirty="0"/>
            </a:br>
            <a:r>
              <a:rPr lang="en-IN" b="1" dirty="0"/>
              <a:t>Roll No.:</a:t>
            </a:r>
            <a:r>
              <a:rPr lang="en-IN" dirty="0"/>
              <a:t> 2403ME03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APPROACH</a:t>
            </a:r>
            <a:br>
              <a:rPr lang="en-US" dirty="0"/>
            </a:br>
            <a:r>
              <a:rPr lang="en-IN" sz="1800" b="0" dirty="0">
                <a:latin typeface="Arial" panose="020B0604020202020204" pitchFamily="34" charset="0"/>
                <a:cs typeface="Arial" panose="020B0604020202020204" pitchFamily="34" charset="0"/>
              </a:rPr>
              <a:t>Why this approach?</a:t>
            </a:r>
            <a:br>
              <a:rPr lang="en-IN" sz="18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800" b="0" dirty="0">
                <a:latin typeface="Arial" panose="020B0604020202020204" pitchFamily="34" charset="0"/>
                <a:cs typeface="Arial" panose="020B0604020202020204" pitchFamily="34" charset="0"/>
              </a:rPr>
              <a:t>-Separates the droplet from the      background </a:t>
            </a:r>
            <a:br>
              <a:rPr lang="en-IN" sz="18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800" b="0" dirty="0">
                <a:latin typeface="Arial" panose="020B0604020202020204" pitchFamily="34" charset="0"/>
                <a:cs typeface="Arial" panose="020B0604020202020204" pitchFamily="34" charset="0"/>
              </a:rPr>
              <a:t>-Removes unwanted small regions </a:t>
            </a:r>
            <a:br>
              <a:rPr lang="en-IN" sz="18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800" b="0" dirty="0">
                <a:latin typeface="Arial" panose="020B0604020202020204" pitchFamily="34" charset="0"/>
                <a:cs typeface="Arial" panose="020B0604020202020204" pitchFamily="34" charset="0"/>
              </a:rPr>
              <a:t>-Tracks the droplet frame-by-frame </a:t>
            </a:r>
            <a:br>
              <a:rPr lang="en-IN" sz="18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800" b="0" dirty="0">
                <a:latin typeface="Arial" panose="020B0604020202020204" pitchFamily="34" charset="0"/>
                <a:cs typeface="Arial" panose="020B0604020202020204" pitchFamily="34" charset="0"/>
              </a:rPr>
              <a:t>-Allows geometric and motion measurements</a:t>
            </a:r>
            <a:br>
              <a:rPr lang="en-IN" sz="18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Placeholder 5" descr="White linen texture">
            <a:extLst>
              <a:ext uri="{FF2B5EF4-FFF2-40B4-BE49-F238E27FC236}">
                <a16:creationId xmlns:a16="http://schemas.microsoft.com/office/drawing/2014/main" id="{1CC36A01-E84B-9C3A-E33C-A80FC85C247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27115" r="27115"/>
          <a:stretch>
            <a:fillRect/>
          </a:stretch>
        </p:blipFill>
        <p:spPr>
          <a:xfrm>
            <a:off x="554182" y="420046"/>
            <a:ext cx="3956767" cy="5791697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4674BD-28FB-F18B-D00F-D5EB74B64EE4}"/>
              </a:ext>
            </a:extLst>
          </p:cNvPr>
          <p:cNvSpPr txBox="1"/>
          <p:nvPr/>
        </p:nvSpPr>
        <p:spPr>
          <a:xfrm>
            <a:off x="822036" y="757382"/>
            <a:ext cx="32419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High-Speed Video</a:t>
            </a:r>
          </a:p>
          <a:p>
            <a:pPr algn="ctr"/>
            <a:r>
              <a:rPr lang="en-IN" sz="1600" b="1" dirty="0"/>
              <a:t> ↓</a:t>
            </a:r>
          </a:p>
          <a:p>
            <a:pPr algn="ctr"/>
            <a:r>
              <a:rPr lang="en-IN" sz="1600" b="1" dirty="0"/>
              <a:t> Extract Frames</a:t>
            </a:r>
          </a:p>
          <a:p>
            <a:pPr algn="ctr"/>
            <a:r>
              <a:rPr lang="en-IN" sz="1600" b="1" dirty="0"/>
              <a:t> ↓ </a:t>
            </a:r>
          </a:p>
          <a:p>
            <a:pPr algn="ctr"/>
            <a:r>
              <a:rPr lang="en-IN" sz="1600" b="1" dirty="0"/>
              <a:t>Convert to Grayscale</a:t>
            </a:r>
          </a:p>
          <a:p>
            <a:pPr algn="ctr"/>
            <a:r>
              <a:rPr lang="en-IN" sz="1600" b="1" dirty="0"/>
              <a:t> ↓</a:t>
            </a:r>
          </a:p>
          <a:p>
            <a:pPr algn="ctr"/>
            <a:r>
              <a:rPr lang="en-IN" sz="1600" b="1" dirty="0"/>
              <a:t> Crop Region of Interest</a:t>
            </a:r>
          </a:p>
          <a:p>
            <a:pPr algn="ctr"/>
            <a:r>
              <a:rPr lang="en-IN" sz="1600" b="1" dirty="0"/>
              <a:t> ↓ </a:t>
            </a:r>
          </a:p>
          <a:p>
            <a:pPr algn="ctr"/>
            <a:r>
              <a:rPr lang="en-IN" sz="1600" b="1" dirty="0"/>
              <a:t>Gaussian Filtering</a:t>
            </a:r>
          </a:p>
          <a:p>
            <a:pPr algn="ctr"/>
            <a:r>
              <a:rPr lang="en-IN" sz="1600" b="1" dirty="0"/>
              <a:t> ↓ </a:t>
            </a:r>
          </a:p>
          <a:p>
            <a:pPr algn="ctr"/>
            <a:r>
              <a:rPr lang="en-IN" sz="1600" b="1" dirty="0"/>
              <a:t>Thresholding </a:t>
            </a:r>
          </a:p>
          <a:p>
            <a:pPr algn="ctr"/>
            <a:r>
              <a:rPr lang="en-IN" sz="1600" b="1" dirty="0"/>
              <a:t>↓</a:t>
            </a:r>
          </a:p>
          <a:p>
            <a:pPr algn="ctr"/>
            <a:r>
              <a:rPr lang="en-IN" sz="1600" b="1" dirty="0"/>
              <a:t> Remove Small Objects</a:t>
            </a:r>
          </a:p>
          <a:p>
            <a:pPr algn="ctr"/>
            <a:r>
              <a:rPr lang="en-IN" sz="1600" b="1" dirty="0"/>
              <a:t> ↓</a:t>
            </a:r>
          </a:p>
          <a:p>
            <a:pPr algn="ctr"/>
            <a:r>
              <a:rPr lang="en-IN" sz="1600" b="1" dirty="0"/>
              <a:t> Connected Component Analysis</a:t>
            </a:r>
          </a:p>
          <a:p>
            <a:pPr algn="ctr"/>
            <a:r>
              <a:rPr lang="en-IN" sz="1600" b="1" dirty="0"/>
              <a:t> ↓</a:t>
            </a:r>
          </a:p>
          <a:p>
            <a:pPr algn="ctr"/>
            <a:r>
              <a:rPr lang="en-IN" sz="1600" b="1" dirty="0"/>
              <a:t> Detect Droplet </a:t>
            </a:r>
          </a:p>
          <a:p>
            <a:pPr algn="ctr"/>
            <a:r>
              <a:rPr lang="en-IN" sz="1600" b="1" dirty="0"/>
              <a:t>↓ </a:t>
            </a:r>
          </a:p>
          <a:p>
            <a:pPr algn="ctr"/>
            <a:r>
              <a:rPr lang="en-IN" sz="1600" b="1" dirty="0"/>
              <a:t>Track Geometry &amp; Motion</a:t>
            </a:r>
          </a:p>
          <a:p>
            <a:pPr algn="ctr"/>
            <a:r>
              <a:rPr lang="en-IN" sz="1600" b="1" dirty="0"/>
              <a:t> ↓ </a:t>
            </a:r>
          </a:p>
          <a:p>
            <a:pPr algn="ctr"/>
            <a:r>
              <a:rPr lang="en-IN" sz="1600" b="1" dirty="0"/>
              <a:t>Calculate Required Quantities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623743"/>
          </a:xfrm>
        </p:spPr>
        <p:txBody>
          <a:bodyPr/>
          <a:lstStyle/>
          <a:p>
            <a:r>
              <a:rPr lang="en-IN" dirty="0"/>
              <a:t>DROPLET DETECTION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8C532D1-9121-2FC0-0A8C-865A5A2212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50413" y="2412585"/>
            <a:ext cx="2734252" cy="20393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C50C9A5-7442-6B45-0E09-F275D9CF6044}"/>
              </a:ext>
            </a:extLst>
          </p:cNvPr>
          <p:cNvSpPr txBox="1"/>
          <p:nvPr/>
        </p:nvSpPr>
        <p:spPr>
          <a:xfrm>
            <a:off x="1487054" y="4516704"/>
            <a:ext cx="1939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Figure1 : raw image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A110D46-1461-E1C8-6D2A-E2F56B320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6881" y="2288833"/>
            <a:ext cx="2984275" cy="25058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96A645E-7763-0C22-92F8-CDB94BFCBB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8005" y="2486919"/>
            <a:ext cx="2801740" cy="227491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94CCB67-C568-A714-A3FF-E01893AE3A4B}"/>
              </a:ext>
            </a:extLst>
          </p:cNvPr>
          <p:cNvSpPr/>
          <p:nvPr/>
        </p:nvSpPr>
        <p:spPr>
          <a:xfrm>
            <a:off x="1098196" y="2288833"/>
            <a:ext cx="2984275" cy="25972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D53AD5-443A-055A-A356-E54214883462}"/>
              </a:ext>
            </a:extLst>
          </p:cNvPr>
          <p:cNvSpPr/>
          <p:nvPr/>
        </p:nvSpPr>
        <p:spPr>
          <a:xfrm>
            <a:off x="7251474" y="2288833"/>
            <a:ext cx="2626246" cy="25972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04464F-E401-0732-B1F3-09518E39D648}"/>
              </a:ext>
            </a:extLst>
          </p:cNvPr>
          <p:cNvSpPr txBox="1"/>
          <p:nvPr/>
        </p:nvSpPr>
        <p:spPr>
          <a:xfrm>
            <a:off x="4688871" y="4055039"/>
            <a:ext cx="17364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 2: detected droplet boundary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0ECFE6-CE65-A1F8-1BAC-F179E6EFF68B}"/>
              </a:ext>
            </a:extLst>
          </p:cNvPr>
          <p:cNvSpPr txBox="1"/>
          <p:nvPr/>
        </p:nvSpPr>
        <p:spPr>
          <a:xfrm>
            <a:off x="7684655" y="4322618"/>
            <a:ext cx="1653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 3: bounding rectangle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14D2CE-9315-1B83-75E0-575AF6D48516}"/>
              </a:ext>
            </a:extLst>
          </p:cNvPr>
          <p:cNvSpPr txBox="1"/>
          <p:nvPr/>
        </p:nvSpPr>
        <p:spPr>
          <a:xfrm>
            <a:off x="10097049" y="1542473"/>
            <a:ext cx="157941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choices:</a:t>
            </a:r>
            <a:endParaRPr lang="en-IN" dirty="0"/>
          </a:p>
          <a:p>
            <a:pPr lvl="0"/>
            <a:r>
              <a:rPr lang="en-IN" dirty="0"/>
              <a:t>--Grayscale conversion </a:t>
            </a:r>
          </a:p>
          <a:p>
            <a:pPr lvl="0"/>
            <a:r>
              <a:rPr lang="en-IN" dirty="0"/>
              <a:t>--Gaussian filtering </a:t>
            </a:r>
          </a:p>
          <a:p>
            <a:pPr lvl="0"/>
            <a:r>
              <a:rPr lang="en-IN" dirty="0"/>
              <a:t>--Thresholding </a:t>
            </a:r>
          </a:p>
          <a:p>
            <a:pPr lvl="0"/>
            <a:r>
              <a:rPr lang="en-IN" dirty="0"/>
              <a:t>--Removal of small objects </a:t>
            </a:r>
          </a:p>
          <a:p>
            <a:pPr lvl="0"/>
            <a:r>
              <a:rPr lang="en-IN" dirty="0"/>
              <a:t>--Largest connected component selected as droplet</a:t>
            </a:r>
          </a:p>
          <a:p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413798-4BA8-C209-D3A9-BB62573BD2F1}"/>
              </a:ext>
            </a:extLst>
          </p:cNvPr>
          <p:cNvSpPr/>
          <p:nvPr/>
        </p:nvSpPr>
        <p:spPr>
          <a:xfrm>
            <a:off x="4304145" y="2288833"/>
            <a:ext cx="2794288" cy="25972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 Droplet</a:t>
            </a:r>
          </a:p>
          <a:p>
            <a:r>
              <a:rPr lang="en-US" dirty="0"/>
              <a:t>          ┌───────────┐</a:t>
            </a:r>
          </a:p>
          <a:p>
            <a:r>
              <a:rPr lang="en-US" dirty="0"/>
              <a:t>          │     •     │  ← Centroid       | </a:t>
            </a:r>
          </a:p>
          <a:p>
            <a:r>
              <a:rPr lang="en-US" dirty="0"/>
              <a:t>   Y ↕   |                                             |</a:t>
            </a:r>
          </a:p>
          <a:p>
            <a:r>
              <a:rPr lang="en-US" dirty="0"/>
              <a:t>          └───────────┘</a:t>
            </a:r>
          </a:p>
          <a:p>
            <a:r>
              <a:rPr lang="en-US" dirty="0"/>
              <a:t>          ←── X ───→</a:t>
            </a:r>
          </a:p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9CCAF95-A742-52C0-3084-37FE50EC5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74" y="621694"/>
            <a:ext cx="7965461" cy="994164"/>
          </a:xfrm>
        </p:spPr>
        <p:txBody>
          <a:bodyPr/>
          <a:lstStyle/>
          <a:p>
            <a:r>
              <a:rPr lang="en-IN" dirty="0"/>
              <a:t>3. Tracking &amp; Measurements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D906B0-8135-C59C-AF2B-8E5E921415C4}"/>
              </a:ext>
            </a:extLst>
          </p:cNvPr>
          <p:cNvSpPr txBox="1"/>
          <p:nvPr/>
        </p:nvSpPr>
        <p:spPr>
          <a:xfrm>
            <a:off x="8146473" y="2303029"/>
            <a:ext cx="192033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Tracked quantities</a:t>
            </a:r>
          </a:p>
          <a:p>
            <a:pPr lvl="0"/>
            <a:r>
              <a:rPr lang="en-IN" dirty="0"/>
              <a:t>Bounding box </a:t>
            </a:r>
          </a:p>
          <a:p>
            <a:pPr lvl="0"/>
            <a:r>
              <a:rPr lang="en-IN" dirty="0"/>
              <a:t>X diameter </a:t>
            </a:r>
          </a:p>
          <a:p>
            <a:pPr lvl="0"/>
            <a:r>
              <a:rPr lang="en-IN" dirty="0"/>
              <a:t>Y diameter </a:t>
            </a:r>
          </a:p>
          <a:p>
            <a:pPr lvl="0"/>
            <a:r>
              <a:rPr lang="en-IN" dirty="0"/>
              <a:t>Centroid position </a:t>
            </a:r>
          </a:p>
          <a:p>
            <a:pPr lvl="0"/>
            <a:r>
              <a:rPr lang="en-IN" dirty="0"/>
              <a:t>Top boundary </a:t>
            </a:r>
          </a:p>
          <a:p>
            <a:pPr lvl="0"/>
            <a:r>
              <a:rPr lang="en-IN" dirty="0"/>
              <a:t>Bottom boundary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Calibration</a:t>
            </a:r>
          </a:p>
          <a:p>
            <a:pPr lvl="0"/>
            <a:r>
              <a:rPr lang="en-IN" b="1" dirty="0"/>
              <a:t>50 pixels = 2mm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5136" y="179033"/>
            <a:ext cx="7043617" cy="1499309"/>
          </a:xfrm>
        </p:spPr>
        <p:txBody>
          <a:bodyPr/>
          <a:lstStyle/>
          <a:p>
            <a:r>
              <a:rPr lang="en-IN" dirty="0"/>
              <a:t>Key Results: Droplet Geometry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26835" y="5869535"/>
            <a:ext cx="3445164" cy="809432"/>
          </a:xfrm>
        </p:spPr>
        <p:txBody>
          <a:bodyPr>
            <a:normAutofit lnSpcReduction="10000"/>
          </a:bodyPr>
          <a:lstStyle/>
          <a:p>
            <a:pPr algn="ctr"/>
            <a:r>
              <a:rPr lang="en-IN" sz="1600" b="1" dirty="0"/>
              <a:t>Observation:</a:t>
            </a:r>
            <a:r>
              <a:rPr lang="en-IN" sz="1600" dirty="0"/>
              <a:t> X and Y diameters change during impact and rebound, showing droplet deformation</a:t>
            </a:r>
            <a:r>
              <a:rPr lang="en-IN" dirty="0"/>
              <a:t>.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86554C-5CE6-5E05-AACC-2FD8A9012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073" y="1842445"/>
            <a:ext cx="5291108" cy="39395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5E9680-E3F4-CA0D-719D-BAC1B3639C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819" y="1816119"/>
            <a:ext cx="5291108" cy="39395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9C9B918-4924-C3C2-DB38-8C546A2EFB8C}"/>
              </a:ext>
            </a:extLst>
          </p:cNvPr>
          <p:cNvSpPr txBox="1"/>
          <p:nvPr/>
        </p:nvSpPr>
        <p:spPr>
          <a:xfrm>
            <a:off x="7313872" y="5755636"/>
            <a:ext cx="45350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Observation:</a:t>
            </a:r>
            <a:r>
              <a:rPr lang="en-IN" dirty="0"/>
              <a:t> Estimated volume varies because the droplet is not perfectly spherical during deformation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514396"/>
            <a:ext cx="8192656" cy="828584"/>
          </a:xfrm>
        </p:spPr>
        <p:txBody>
          <a:bodyPr/>
          <a:lstStyle/>
          <a:p>
            <a:r>
              <a:rPr lang="en-IN" dirty="0"/>
              <a:t>KEY RESULTS: MOTION &amp; BOUNCE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59598E1-F8D4-F7E5-F2BD-C9075D70ADB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4795754" y="2215230"/>
            <a:ext cx="3257717" cy="2444876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E7B4DBD-5572-0AD5-A7F5-D2768FAE35C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304799" y="2197894"/>
            <a:ext cx="3282950" cy="24622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FE4C88C-05E6-30AA-E66D-1D5EEBDF1B17}"/>
              </a:ext>
            </a:extLst>
          </p:cNvPr>
          <p:cNvSpPr txBox="1"/>
          <p:nvPr/>
        </p:nvSpPr>
        <p:spPr>
          <a:xfrm>
            <a:off x="1080655" y="4747613"/>
            <a:ext cx="1764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Centroid Motion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168B21-F141-A352-C4D4-CA0BD98BEF37}"/>
              </a:ext>
            </a:extLst>
          </p:cNvPr>
          <p:cNvSpPr txBox="1"/>
          <p:nvPr/>
        </p:nvSpPr>
        <p:spPr>
          <a:xfrm>
            <a:off x="5486400" y="4713020"/>
            <a:ext cx="22536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Top and Bottom Boundary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C0D15E-E3B1-D95F-FE99-4CEEDC345D60}"/>
              </a:ext>
            </a:extLst>
          </p:cNvPr>
          <p:cNvSpPr txBox="1"/>
          <p:nvPr/>
        </p:nvSpPr>
        <p:spPr>
          <a:xfrm>
            <a:off x="286327" y="5541925"/>
            <a:ext cx="50061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Motion stages :</a:t>
            </a:r>
          </a:p>
          <a:p>
            <a:r>
              <a:rPr lang="en-US" dirty="0"/>
              <a:t>Free fall → Impact → Rebound → Oscillation</a:t>
            </a:r>
          </a:p>
          <a:p>
            <a:r>
              <a:rPr lang="en-US" dirty="0"/>
              <a:t>Number of bounces:</a:t>
            </a:r>
          </a:p>
          <a:p>
            <a:r>
              <a:rPr lang="en-US" dirty="0"/>
              <a:t>48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E21DD-F4E4-1B3F-BD60-C8F86D7EB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4" y="223442"/>
            <a:ext cx="7796464" cy="1222385"/>
          </a:xfrm>
        </p:spPr>
        <p:txBody>
          <a:bodyPr/>
          <a:lstStyle/>
          <a:p>
            <a:r>
              <a:rPr lang="en-IN" dirty="0"/>
              <a:t>Analysis &amp; Interpretation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D7CBF9-A26E-3482-CE3E-939CDC3ED5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9867F2-4724-C7D5-0FB6-B4C85C4466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0" y="2179034"/>
            <a:ext cx="2598821" cy="2196783"/>
          </a:xfrm>
        </p:spPr>
        <p:txBody>
          <a:bodyPr/>
          <a:lstStyle/>
          <a:p>
            <a:r>
              <a:rPr lang="en-IN" b="1" dirty="0"/>
              <a:t>Deformation</a:t>
            </a:r>
          </a:p>
          <a:p>
            <a:r>
              <a:rPr lang="en-IN" dirty="0"/>
              <a:t>The droplet spreads and becomes flatter during impact, then becomes more spherical during rebound.</a:t>
            </a:r>
          </a:p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F70F44-19B5-B8E2-9034-CA68677CF7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60" y="2241030"/>
            <a:ext cx="2833830" cy="2072789"/>
          </a:xfrm>
        </p:spPr>
        <p:txBody>
          <a:bodyPr/>
          <a:lstStyle/>
          <a:p>
            <a:r>
              <a:rPr lang="en-IN" b="1" dirty="0"/>
              <a:t>Impact &amp; Rebound</a:t>
            </a:r>
          </a:p>
          <a:p>
            <a:r>
              <a:rPr lang="en-IN" dirty="0"/>
              <a:t>The droplet's downward motion changes rapidly during impact and reverses during rebound.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167AAD-3713-2D36-1FBE-3F0AA91CDD34}"/>
              </a:ext>
            </a:extLst>
          </p:cNvPr>
          <p:cNvSpPr txBox="1"/>
          <p:nvPr/>
        </p:nvSpPr>
        <p:spPr>
          <a:xfrm>
            <a:off x="685799" y="4435975"/>
            <a:ext cx="259882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Energy Loss</a:t>
            </a:r>
          </a:p>
          <a:p>
            <a:r>
              <a:rPr lang="en-IN" dirty="0"/>
              <a:t>Some kinetic energy is converted into droplet deformation and lost through processes such as viscous effects and interaction with the surface.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A9BE82-DE1B-1A04-15A8-C1626F38C1FE}"/>
              </a:ext>
            </a:extLst>
          </p:cNvPr>
          <p:cNvSpPr txBox="1"/>
          <p:nvPr/>
        </p:nvSpPr>
        <p:spPr>
          <a:xfrm>
            <a:off x="4782160" y="4435975"/>
            <a:ext cx="24544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Superhydrophobic Behaviour</a:t>
            </a:r>
          </a:p>
          <a:p>
            <a:r>
              <a:rPr lang="en-IN" dirty="0"/>
              <a:t>The droplet's rebound indicates low interaction with the water-repellent surface.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8663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4581F-3AA5-7BB7-45D0-03E552CF7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162" y="317495"/>
            <a:ext cx="7796464" cy="1222385"/>
          </a:xfrm>
        </p:spPr>
        <p:txBody>
          <a:bodyPr/>
          <a:lstStyle/>
          <a:p>
            <a:r>
              <a:rPr lang="en-IN" dirty="0"/>
              <a:t>Method Evaluation &amp; Conclusions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1F8848-AD20-4E23-E0CE-20E190D6E5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65EDD4-E948-BBE8-0CA2-469137DA958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What worked</a:t>
            </a:r>
          </a:p>
          <a:p>
            <a:pPr lvl="0"/>
            <a:r>
              <a:rPr lang="en-IN" dirty="0"/>
              <a:t>Droplet was successfully detected from the video. </a:t>
            </a:r>
          </a:p>
          <a:p>
            <a:pPr lvl="0"/>
            <a:r>
              <a:rPr lang="en-IN" dirty="0"/>
              <a:t>Boundary and bounding box were obtained. </a:t>
            </a:r>
          </a:p>
          <a:p>
            <a:pPr lvl="0"/>
            <a:r>
              <a:rPr lang="en-IN" dirty="0"/>
              <a:t>Droplet geometry and motion were tracked. </a:t>
            </a:r>
          </a:p>
          <a:p>
            <a:pPr lvl="0"/>
            <a:r>
              <a:rPr lang="en-IN" dirty="0"/>
              <a:t>Bounce behaviour could be identified. </a:t>
            </a:r>
          </a:p>
          <a:p>
            <a:r>
              <a:rPr lang="en-IN" b="1" dirty="0"/>
              <a:t>Limitations / Errors</a:t>
            </a:r>
          </a:p>
          <a:p>
            <a:pPr lvl="0"/>
            <a:r>
              <a:rPr lang="en-IN" dirty="0"/>
              <a:t>Threshold selection can affect detection. </a:t>
            </a:r>
          </a:p>
          <a:p>
            <a:pPr lvl="0"/>
            <a:r>
              <a:rPr lang="en-IN" dirty="0"/>
              <a:t>Image noise can affect the boundary. </a:t>
            </a:r>
          </a:p>
          <a:p>
            <a:pPr lvl="0"/>
            <a:r>
              <a:rPr lang="en-IN" dirty="0"/>
              <a:t>Calibration affects measured dimensions. </a:t>
            </a:r>
          </a:p>
          <a:p>
            <a:pPr lvl="0"/>
            <a:r>
              <a:rPr lang="en-IN" dirty="0"/>
              <a:t>Spherical assumption affects volume estimation.</a:t>
            </a:r>
          </a:p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A197E2-BB62-C9FE-8361-2046E355FFD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  <a:p>
            <a:pPr lvl="0"/>
            <a:r>
              <a:rPr lang="en-IN" dirty="0"/>
              <a:t>Image processing successfully tracked the droplet. </a:t>
            </a:r>
          </a:p>
          <a:p>
            <a:pPr lvl="0"/>
            <a:r>
              <a:rPr lang="en-IN" dirty="0"/>
              <a:t>The droplet undergoes significant deformation during impact. </a:t>
            </a:r>
          </a:p>
          <a:p>
            <a:pPr lvl="0"/>
            <a:r>
              <a:rPr lang="en-IN" dirty="0"/>
              <a:t>The droplet rebounds from the superhydrophobic surface. </a:t>
            </a:r>
          </a:p>
          <a:p>
            <a:pPr lvl="0"/>
            <a:r>
              <a:rPr lang="en-IN" dirty="0"/>
              <a:t>Better segmentation and shape-based volume estimation could improve accuracy.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6209257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sharepoint/v3"/>
    <ds:schemaRef ds:uri="http://www.w3.org/XML/1998/namespace"/>
    <ds:schemaRef ds:uri="71af3243-3dd4-4a8d-8c0d-dd76da1f02a5"/>
    <ds:schemaRef ds:uri="http://schemas.microsoft.com/office/2006/documentManagement/types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230e9df3-be65-4c73-a93b-d1236ebd677e"/>
    <ds:schemaRef ds:uri="16c05727-aa75-4e4a-9b5f-8a80a1165891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514</TotalTime>
  <Words>430</Words>
  <Application>Microsoft Office PowerPoint</Application>
  <PresentationFormat>Widescreen</PresentationFormat>
  <Paragraphs>92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Felix Titling</vt:lpstr>
      <vt:lpstr>Goudy Old Style</vt:lpstr>
      <vt:lpstr>Archway</vt:lpstr>
      <vt:lpstr>ME 3101 Project </vt:lpstr>
      <vt:lpstr>MY APPROACH Why this approach? -Separates the droplet from the      background  -Removes unwanted small regions  -Tracks the droplet frame-by-frame  -Allows geometric and motion measurements </vt:lpstr>
      <vt:lpstr>DROPLET DETECTION</vt:lpstr>
      <vt:lpstr>3. Tracking &amp; Measurements</vt:lpstr>
      <vt:lpstr>Key Results: Droplet Geometry</vt:lpstr>
      <vt:lpstr>KEY RESULTS: MOTION &amp; BOUNCE</vt:lpstr>
      <vt:lpstr>Analysis &amp; Interpretation</vt:lpstr>
      <vt:lpstr>Method Evaluation &amp; 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nishthashrivas62@gmail.com</dc:creator>
  <cp:lastModifiedBy>nishthashrivas62@gmail.com</cp:lastModifiedBy>
  <cp:revision>2</cp:revision>
  <dcterms:created xsi:type="dcterms:W3CDTF">2026-08-31T18:29:14Z</dcterms:created>
  <dcterms:modified xsi:type="dcterms:W3CDTF">2026-09-01T03:04:13Z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